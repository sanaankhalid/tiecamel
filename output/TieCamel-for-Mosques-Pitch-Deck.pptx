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8146c5f5f481c" /><Relationship Type="http://schemas.openxmlformats.org/officeDocument/2006/relationships/extended-properties" Target="/docProps/app.xml" Id="R506b19fc351b4b2d" /><Relationship Type="http://schemas.openxmlformats.org/officeDocument/2006/relationships/officeDocument" Target="/ppt/presentation.xml" Id="Rd81fb939ba68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4cad04be04398"/>
  </p:sldMasterIdLst>
  <p:notesMasterIdLst>
    <p:notesMasterId xmlns:r="http://schemas.openxmlformats.org/officeDocument/2006/relationships" r:id="Rb0f708da74e54411"/>
  </p:notesMasterIdLst>
  <p:sldIdLst>
    <p:sldId xmlns:r="http://schemas.openxmlformats.org/officeDocument/2006/relationships" id="256" r:id="Rd14f91e9515b4737"/>
    <p:sldId xmlns:r="http://schemas.openxmlformats.org/officeDocument/2006/relationships" id="257" r:id="R77b78289801b430d"/>
    <p:sldId xmlns:r="http://schemas.openxmlformats.org/officeDocument/2006/relationships" id="258" r:id="Rf84ac170d017432b"/>
    <p:sldId xmlns:r="http://schemas.openxmlformats.org/officeDocument/2006/relationships" id="259" r:id="Rf38cdec801d74c0a"/>
    <p:sldId xmlns:r="http://schemas.openxmlformats.org/officeDocument/2006/relationships" id="260" r:id="R13910e6275964633"/>
    <p:sldId xmlns:r="http://schemas.openxmlformats.org/officeDocument/2006/relationships" id="261" r:id="R9890396bede948db"/>
    <p:sldId xmlns:r="http://schemas.openxmlformats.org/officeDocument/2006/relationships" id="262" r:id="R4bf146f82c554395"/>
    <p:sldId xmlns:r="http://schemas.openxmlformats.org/officeDocument/2006/relationships" id="263" r:id="Rad4a2fe7f4394335"/>
    <p:sldId xmlns:r="http://schemas.openxmlformats.org/officeDocument/2006/relationships" id="264" r:id="R44ee0d6b90ff403b"/>
    <p:sldId xmlns:r="http://schemas.openxmlformats.org/officeDocument/2006/relationships" id="265" r:id="R79cf5fd06f3742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ea5d6b70ab4df4" /><Relationship Type="http://schemas.openxmlformats.org/officeDocument/2006/relationships/slideMaster" Target="/ppt/slideMasters/slideMaster1.xml" Id="Rc584cad04be04398" /><Relationship Type="http://schemas.openxmlformats.org/officeDocument/2006/relationships/notesMaster" Target="/ppt/notesMasters/notesMaster1.xml" Id="Rb0f708da74e54411" /><Relationship Type="http://schemas.openxmlformats.org/officeDocument/2006/relationships/presProps" Target="/ppt/presProps.xml" Id="Re86b863c12cd414f" /><Relationship Type="http://schemas.openxmlformats.org/officeDocument/2006/relationships/tableStyles" Target="/ppt/tableStyles.xml" Id="R0d42a66c08b84a4a" /><Relationship Type="http://schemas.openxmlformats.org/officeDocument/2006/relationships/slide" Target="/ppt/slides/slide1.xml" Id="Rd14f91e9515b4737" /><Relationship Type="http://schemas.openxmlformats.org/officeDocument/2006/relationships/slide" Target="/ppt/slides/slide2.xml" Id="R77b78289801b430d" /><Relationship Type="http://schemas.openxmlformats.org/officeDocument/2006/relationships/slide" Target="/ppt/slides/slide3.xml" Id="Rf84ac170d017432b" /><Relationship Type="http://schemas.openxmlformats.org/officeDocument/2006/relationships/slide" Target="/ppt/slides/slide4.xml" Id="Rf38cdec801d74c0a" /><Relationship Type="http://schemas.openxmlformats.org/officeDocument/2006/relationships/slide" Target="/ppt/slides/slide5.xml" Id="R13910e6275964633" /><Relationship Type="http://schemas.openxmlformats.org/officeDocument/2006/relationships/slide" Target="/ppt/slides/slide6.xml" Id="R9890396bede948db" /><Relationship Type="http://schemas.openxmlformats.org/officeDocument/2006/relationships/slide" Target="/ppt/slides/slide7.xml" Id="R4bf146f82c554395" /><Relationship Type="http://schemas.openxmlformats.org/officeDocument/2006/relationships/slide" Target="/ppt/slides/slide8.xml" Id="Rad4a2fe7f4394335" /><Relationship Type="http://schemas.openxmlformats.org/officeDocument/2006/relationships/slide" Target="/ppt/slides/slide9.xml" Id="R44ee0d6b90ff403b" /><Relationship Type="http://schemas.openxmlformats.org/officeDocument/2006/relationships/slide" Target="/ppt/slides/slide10.xml" Id="R79cf5fd06f3742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9fc40226fb42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8f8a95f54645d8" /><Relationship Type="http://schemas.openxmlformats.org/officeDocument/2006/relationships/notesMaster" Target="/ppt/notesMasters/notesMaster1.xml" Id="R2df97efea44644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d9173ade54aef" /><Relationship Type="http://schemas.openxmlformats.org/officeDocument/2006/relationships/notesMaster" Target="/ppt/notesMasters/notesMaster1.xml" Id="R91faec0f408a4a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968f1880c49f4" /><Relationship Type="http://schemas.openxmlformats.org/officeDocument/2006/relationships/notesMaster" Target="/ppt/notesMasters/notesMaster1.xml" Id="Racd066a946674c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4cae5c6bfc4343" /><Relationship Type="http://schemas.openxmlformats.org/officeDocument/2006/relationships/notesMaster" Target="/ppt/notesMasters/notesMaster1.xml" Id="Rea8a42a0f96d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6ef7922214d2e" /><Relationship Type="http://schemas.openxmlformats.org/officeDocument/2006/relationships/notesMaster" Target="/ppt/notesMasters/notesMaster1.xml" Id="R61810494df1c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6f942115864578" /><Relationship Type="http://schemas.openxmlformats.org/officeDocument/2006/relationships/notesMaster" Target="/ppt/notesMasters/notesMaster1.xml" Id="R742633c7fc1446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a20c6ad09d4607" /><Relationship Type="http://schemas.openxmlformats.org/officeDocument/2006/relationships/notesMaster" Target="/ppt/notesMasters/notesMaster1.xml" Id="R650207c7d8b740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d16a8bbcbb42fb" /><Relationship Type="http://schemas.openxmlformats.org/officeDocument/2006/relationships/notesMaster" Target="/ppt/notesMasters/notesMaster1.xml" Id="Rc7a516f5258c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654721446e4e00" /><Relationship Type="http://schemas.openxmlformats.org/officeDocument/2006/relationships/notesMaster" Target="/ppt/notesMasters/notesMaster1.xml" Id="R0c851c40379c4d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b6807a22ae454c" /><Relationship Type="http://schemas.openxmlformats.org/officeDocument/2006/relationships/notesMaster" Target="/ppt/notesMasters/notesMaster1.xml" Id="R8bd3b4ae66ac42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stewardship: the promise is not simply to manage a mosque, but to protect an amanah and make responsible action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PRODUCT_PLAN.md, accessed 2026-08-02.</a:t>
            </a:r>
          </a:p>
          <a:p xmlns:a="http://schemas.openxmlformats.org/drawingml/2006/main">
            <a:r>
              <a:t>- AI-generated architecture visual created for this deck with OpenAI image generation, 2026-08-02.</a:t>
            </a:r>
          </a:p>
          <a:p xmlns:a="http://schemas.openxmlformats.org/drawingml/2006/main">
            <a:r>
              <a:t>- TieCamel repository-local logo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mission to the operational load carried by mosque boards, staff, volunteers, finance committees, and independent reviewers.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PRODUCT_PLAN.md: obligation categories and faith-based institution use case, accessed 2026-08-02.</a:t>
            </a:r>
          </a:p>
          <a:p xmlns:a="http://schemas.openxmlformats.org/drawingml/2006/main">
            <a:r>
              <a:t>- TieCamel apps/web/src/pages/index.astro: assets and obligations module copy, accessed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competitive gap: bookkeeping, board portals, email, and storage each solve a narrow problem, but not the handoff between knowledge, responsibility, evidence, escalation, and disclosure.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PRODUCT_PLAN.md: Why this product should exist, accessed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the three-part promise to the actual product workspace. The screenshot uses the seeded Islamic Center of Naperville demo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apps/web/src/pages/index.astro: Observe / Escalate / Prove copy, accessed 2026-08-02.</a:t>
            </a:r>
          </a:p>
          <a:p xmlns:a="http://schemas.openxmlformats.org/drawingml/2006/main">
            <a:r>
              <a:t>- Local TieCamel seeded demo screenshot: Islamic Center of Naperville organization workspace, captured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a board member or treasurer can orient quickly across governed repositories, work requiring attention, and recent anchored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TieCamel seeded demo screenshot: Islamic Center of Naperville organization workspace, captured 2026-08-02.</a:t>
            </a:r>
          </a:p>
          <a:p xmlns:a="http://schemas.openxmlformats.org/drawingml/2006/main">
            <a:r>
              <a:t>- TieCamel README.md and PRODUCT_PLAN.md: repository oversight and correction history, accessed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property-tax-notice demo to make the workflow tangible. TieCamel does not decide legal responsibility; it makes the obligation, evidence, owner, reviewer, and response status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TieCamel seeded demo screenshot: property tax notice issue workflow, captured 2026-08-02.</a:t>
            </a:r>
          </a:p>
          <a:p xmlns:a="http://schemas.openxmlformats.org/drawingml/2006/main">
            <a:r>
              <a:t>- TieCamel PRODUCT_PLAN.md: obligation lifecycle, independent review, and no-single-point-of-silence principles, accessed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tiered access model, not a one-size-fits-all public portal. Emphasize that transparency and privacy reinforce each other when boundaries are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PRODUCT_PLAN.md: information-access model and transparency with privacy principle, accessed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trust-state vocabulary and the public boundary: only independently reviewed, board-approved, authorized snapshots appear publicly; internal drafts and review discussion remain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apps/web/src/pages/index.astro: trust states, accessed 2026-08-02.</a:t>
            </a:r>
          </a:p>
          <a:p xmlns:a="http://schemas.openxmlformats.org/drawingml/2006/main">
            <a:r>
              <a:t>- TieCamel PRODUCT_PLAN.md: provenance and append-only correction principles, accessed 2026-08-02.</a:t>
            </a:r>
          </a:p>
          <a:p xmlns:a="http://schemas.openxmlformats.org/drawingml/2006/main">
            <a:r>
              <a:t>- Local TieCamel public transparency repository screenshot, captured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 proposed working plan. The exact sequencing should be finalized with the mosque's board, counsel, finance team, and independent reviewer.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PRODUCT_PLAN.md: recommended 90-day design-partner pilot and four pilot outcomes, accessed 2026-08-02.</a:t>
            </a:r>
          </a:p>
          <a:p xmlns:a="http://schemas.openxmlformats.org/drawingml/2006/main">
            <a:r>
              <a:t>- Pilot stage allocation is a proposed presentation framework derived from the product roadmap,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next decision: choose a small number of high-consequence obligations and explore a bounded design-partner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TieCamel PRODUCT_PLAN.md: pilot recommendation and initial obligation categories, accessed 2026-08-02.</a:t>
            </a:r>
          </a:p>
          <a:p xmlns:a="http://schemas.openxmlformats.org/drawingml/2006/main">
            <a:r>
              <a:t>- TieCamel apps/web/src/pages/index.astro: design-partner contact and positioning, accessed 2026-08-02.</a:t>
            </a:r>
          </a:p>
          <a:p xmlns:a="http://schemas.openxmlformats.org/drawingml/2006/main">
            <a:r>
              <a:t>- AI-generated architecture visual created for this deck with OpenAI image generation, 2026-08-02.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e926b9693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f93ee39674bda" /><Relationship Type="http://schemas.openxmlformats.org/officeDocument/2006/relationships/slideLayout" Target="/ppt/slideLayouts/slideLayout1.xml" Id="R62604eb63e80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04eb63e80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59192fe574971" /><Relationship Type="http://schemas.openxmlformats.org/officeDocument/2006/relationships/image" Target="/ppt/media/image.png" Id="R1e93563bf4b14e41" /><Relationship Type="http://schemas.openxmlformats.org/officeDocument/2006/relationships/image" Target="/ppt/media/image2.png" Id="R2a15de5e8f4a498f" /><Relationship Type="http://schemas.openxmlformats.org/officeDocument/2006/relationships/notesSlide" Target="/ppt/notesSlides/notesSlide1.xml" Id="R827b54f9af3e4c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17c60443c475a" /><Relationship Type="http://schemas.openxmlformats.org/officeDocument/2006/relationships/image" Target="/ppt/media/image3.png" Id="Reaf018b4e4514784" /><Relationship Type="http://schemas.openxmlformats.org/officeDocument/2006/relationships/notesSlide" Target="/ppt/notesSlides/notesSlide2.xml" Id="R042c7050102a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d90efb84047be" /><Relationship Type="http://schemas.openxmlformats.org/officeDocument/2006/relationships/notesSlide" Target="/ppt/notesSlides/notesSlide3.xml" Id="R0877428c97ac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b20154c14648" /><Relationship Type="http://schemas.openxmlformats.org/officeDocument/2006/relationships/image" Target="/ppt/media/image.jpeg" Id="R213ae176f53a458f" /><Relationship Type="http://schemas.openxmlformats.org/officeDocument/2006/relationships/notesSlide" Target="/ppt/notesSlides/notesSlide4.xml" Id="R532388428c5148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5fada450b4869" /><Relationship Type="http://schemas.openxmlformats.org/officeDocument/2006/relationships/image" Target="/ppt/media/image2.jpeg" Id="R06d3e08f4fad4ee2" /><Relationship Type="http://schemas.openxmlformats.org/officeDocument/2006/relationships/notesSlide" Target="/ppt/notesSlides/notesSlide5.xml" Id="Re23ccecd3d16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5b61ae1554b4b" /><Relationship Type="http://schemas.openxmlformats.org/officeDocument/2006/relationships/image" Target="/ppt/media/image3.jpeg" Id="Rf3ef20a9d84b483a" /><Relationship Type="http://schemas.openxmlformats.org/officeDocument/2006/relationships/notesSlide" Target="/ppt/notesSlides/notesSlide6.xml" Id="R9ff969a740e945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fb7d592d40cd" /><Relationship Type="http://schemas.openxmlformats.org/officeDocument/2006/relationships/notesSlide" Target="/ppt/notesSlides/notesSlide7.xml" Id="R42a45520db2145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2ff0e743435a" /><Relationship Type="http://schemas.openxmlformats.org/officeDocument/2006/relationships/image" Target="/ppt/media/image4.jpeg" Id="R91b9ff5f07fb4893" /><Relationship Type="http://schemas.openxmlformats.org/officeDocument/2006/relationships/notesSlide" Target="/ppt/notesSlides/notesSlide8.xml" Id="R5e8fd8b0e85c4e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184c7f474a45" /><Relationship Type="http://schemas.openxmlformats.org/officeDocument/2006/relationships/notesSlide" Target="/ppt/notesSlides/notesSlide9.xml" Id="Rf63347629007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69b9f08b4457" /><Relationship Type="http://schemas.openxmlformats.org/officeDocument/2006/relationships/image" Target="/ppt/media/image4.png" Id="R1aff4d97d12d4295" /><Relationship Type="http://schemas.openxmlformats.org/officeDocument/2006/relationships/image" Target="/ppt/media/image5.png" Id="R807f91e156754dfd" /><Relationship Type="http://schemas.openxmlformats.org/officeDocument/2006/relationships/notesSlide" Target="/ppt/notesSlides/notesSlide10.xml" Id="R595551bb8a51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3563bf4b14e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93131-0FE0-4D76-BC68-508309D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5de5e8f4a498f"/>
          <a:stretch xmlns:a="http://schemas.openxmlformats.org/drawingml/2006/main"/>
        </p:blipFill>
        <p:spPr>
          <a:xfrm xmlns:a="http://schemas.openxmlformats.org/drawingml/2006/main">
            <a:off x="647700" y="514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7E21D-62D4-4EF1-B8F2-BC0665C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3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TieCamel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D6EC7-0EBA-4B25-AEB7-EE8948FE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D8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14FC3-54F3-4CC9-B18D-9CB5BA4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D8AE"/>
                </a:solidFill>
              </a:defRPr>
            </a:pPr>
            <a:r>
              <a:rPr sz="975" b="1" i="0">
                <a:solidFill>
                  <a:srgbClr val="8BD8AE"/>
                </a:solidFill>
              </a:rPr>
              <a:t>GOVERNANCE INFRASTRUCTURE FOR MOSQUES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57113-078E-4F1A-BC4F-3C38CA22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1F3E9"/>
                </a:solidFill>
              </a:defRPr>
            </a:pPr>
            <a:r>
              <a:rPr sz="4950" b="1" i="0">
                <a:solidFill>
                  <a:srgbClr val="F1F3E9"/>
                </a:solidFill>
              </a:rPr>
              <a:t>Stewardship</a:t>
            </a:r>
          </a:p>
          <a:p xmlns:a="http://schemas.openxmlformats.org/drawingml/2006/main">
            <a:pPr algn="l">
              <a:defRPr sz="4950" b="1" i="0">
                <a:solidFill>
                  <a:srgbClr val="F1F3E9"/>
                </a:solidFill>
              </a:defRPr>
            </a:pPr>
            <a:r>
              <a:rPr sz="4950" b="1" i="0">
                <a:solidFill>
                  <a:srgbClr val="F1F3E9"/>
                </a:solidFill>
              </a:rPr>
              <a:t>you can 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F1E52-1D38-4A0F-88BD-5478CB54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6B9AD"/>
                </a:solidFill>
              </a:defRPr>
            </a:pPr>
            <a:r>
              <a:rPr sz="1725" b="0" i="0">
                <a:solidFill>
                  <a:srgbClr val="A6B9AD"/>
                </a:solidFill>
              </a:rPr>
              <a:t>Protect entrusted assets. Surface risk early.</a:t>
            </a:r>
          </a:p>
          <a:p xmlns:a="http://schemas.openxmlformats.org/drawingml/2006/main">
            <a:pPr algn="l">
              <a:defRPr sz="1725" b="0" i="0">
                <a:solidFill>
                  <a:srgbClr val="A6B9AD"/>
                </a:solidFill>
              </a:defRPr>
            </a:pPr>
            <a:r>
              <a:rPr sz="1725" b="0" i="0">
                <a:solidFill>
                  <a:srgbClr val="A6B9AD"/>
                </a:solidFill>
              </a:rPr>
              <a:t>Build member trust with evidence—not assurances.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458B2-2780-41BD-B227-455F2BB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1FE4E-7513-4D06-9EF5-3365A30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97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MOSQUE DESIGN-PARTNER PITCH · 2026</a:t>
            </a:r>
          </a:p>
        </p:txBody>
      </p:sp>
    </p:spTree>
    <p:extLst>
      <p:ext uri="{BB962C8B-B14F-4D97-AF65-F5344CB8AC3E}">
        <p14:creationId xmlns:p14="http://schemas.microsoft.com/office/powerpoint/2010/main" val="1567419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19C31-14D9-47EE-9490-E582D5C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4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C885F-4849-4468-92B0-B22304D4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THE OPERATING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29832-C309-460A-9FE9-214CD27E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38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1F3E9"/>
                </a:solidFill>
              </a:defRPr>
            </a:pPr>
            <a:r>
              <a:rPr sz="3900" b="1" i="0">
                <a:solidFill>
                  <a:srgbClr val="F1F3E9"/>
                </a:solidFill>
              </a:rPr>
              <a:t>Mosques carry more</a:t>
            </a:r>
          </a:p>
          <a:p xmlns:a="http://schemas.openxmlformats.org/drawingml/2006/main">
            <a:pPr algn="l">
              <a:defRPr sz="3900" b="1" i="0">
                <a:solidFill>
                  <a:srgbClr val="F1F3E9"/>
                </a:solidFill>
              </a:defRPr>
            </a:pPr>
            <a:r>
              <a:rPr sz="3900" b="1" i="0">
                <a:solidFill>
                  <a:srgbClr val="F1F3E9"/>
                </a:solidFill>
              </a:rPr>
              <a:t>than a 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651D7-27B1-4D8A-B728-1E0F119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0" i="1">
                <a:solidFill>
                  <a:srgbClr val="C4A650"/>
                </a:solidFill>
              </a:defRPr>
            </a:pPr>
            <a:r>
              <a:rPr sz="6450" b="0" i="1">
                <a:solidFill>
                  <a:srgbClr val="C4A650"/>
                </a:solidFill>
              </a:rPr>
              <a:t>Amanah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A0127-089F-4FE7-93A7-F392AFDB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6B9AD"/>
                </a:solidFill>
              </a:defRPr>
            </a:pPr>
            <a:r>
              <a:rPr sz="1725" b="0" i="0">
                <a:solidFill>
                  <a:srgbClr val="A6B9AD"/>
                </a:solidFill>
              </a:rPr>
              <a:t>The trust is sacred. The operating complexity is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15329-3AF2-433A-8FCE-1525C02A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19150"/>
            <a:ext cx="0" cy="434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6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5CEEF-ECCB-440A-B196-D712880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28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E4E52-025D-41BF-B77B-8702298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33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F3E9"/>
                </a:solidFill>
              </a:defRPr>
            </a:pPr>
            <a:r>
              <a:rPr sz="1800" b="1" i="0">
                <a:solidFill>
                  <a:srgbClr val="F1F3E9"/>
                </a:solidFill>
              </a:rPr>
              <a:t>Property &amp; exemptions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F41A6-E41F-4F0C-8670-0647EEDA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620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CC215-727A-494C-9A1B-2D3F1A8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240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C119F-EC14-4FE1-BAB7-B172374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287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F3E9"/>
                </a:solidFill>
              </a:defRPr>
            </a:pPr>
            <a:r>
              <a:rPr sz="1800" b="0" i="0">
                <a:solidFill>
                  <a:srgbClr val="F1F3E9"/>
                </a:solidFill>
              </a:rPr>
              <a:t>Insurance &amp;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E3BC2-E82D-48EB-9F4C-A08444A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574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4E532-EC78-4E0F-BFA1-6C119109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6A0E7-F9C0-4881-8A5F-BC9533D1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F3E9"/>
                </a:solidFill>
              </a:defRPr>
            </a:pPr>
            <a:r>
              <a:rPr sz="1800" b="0" i="0">
                <a:solidFill>
                  <a:srgbClr val="F1F3E9"/>
                </a:solidFill>
              </a:rPr>
              <a:t>Zakat &amp; restricted funds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FB6C5-893E-4020-A4F8-6B09E9C4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5272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624E8-2D0F-4F4B-849D-6481EEB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F73F2-DBD0-435E-894D-BC67699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19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F3E9"/>
                </a:solidFill>
              </a:defRPr>
            </a:pPr>
            <a:r>
              <a:rPr sz="1800" b="0" i="0">
                <a:solidFill>
                  <a:srgbClr val="F1F3E9"/>
                </a:solidFill>
              </a:rPr>
              <a:t>Schools &amp; youth programs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935E5-6790-4133-AC53-0D62737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142E8-61FE-46B4-985B-190EA7DA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B421A-146E-402C-BFD1-82B56336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F3E9"/>
                </a:solidFill>
              </a:defRPr>
            </a:pPr>
            <a:r>
              <a:rPr sz="1800" b="0" i="0">
                <a:solidFill>
                  <a:srgbClr val="F1F3E9"/>
                </a:solidFill>
              </a:rPr>
              <a:t>Payroll, grants &amp; filings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9D409-F1F3-4512-ADD2-B7E0B3B9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433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B4006-A108-4063-9824-1EA6018B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053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94961-4C89-4D07-AC98-6927EB7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00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1F3E9"/>
                </a:solidFill>
              </a:defRPr>
            </a:pPr>
            <a:r>
              <a:rPr sz="1800" b="0" i="0">
                <a:solidFill>
                  <a:srgbClr val="F1F3E9"/>
                </a:solidFill>
              </a:rPr>
              <a:t>Board decisions &amp; member expectations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018b4e4514784"/>
          <a:stretch xmlns:a="http://schemas.openxmlformats.org/drawingml/2006/main"/>
        </p:blipFill>
        <p:spPr>
          <a:xfrm xmlns:a="http://schemas.openxmlformats.org/drawingml/2006/main">
            <a:off x="10096500" y="51435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F5481-92E8-4A86-A04D-B37C903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B9AD"/>
                </a:solidFill>
              </a:defRPr>
            </a:pPr>
            <a:r>
              <a:rPr sz="750" b="1" i="0">
                <a:solidFill>
                  <a:srgbClr val="A6B9AD"/>
                </a:solidFill>
              </a:rPr>
              <a:t>TIECAMEL · MOSQUE DESIGN-PARTNER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37A0E-14D0-45A0-99E1-506966DC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8C47F"/>
                </a:solidFill>
              </a:defRPr>
            </a:pPr>
            <a:r>
              <a:rPr sz="825" b="1" i="0">
                <a:solidFill>
                  <a:srgbClr val="D8C4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8857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2D1C2-1EBA-4B15-B0D8-2BD8F80C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5655-C63E-4CCF-886A-50E52E6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3B2C"/>
                </a:solidFill>
              </a:defRPr>
            </a:pPr>
            <a:r>
              <a:rPr sz="975" b="1" i="0">
                <a:solidFill>
                  <a:srgbClr val="133B2C"/>
                </a:solidFill>
              </a:rPr>
              <a:t>THE HIDDEN FAILURE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D4F2E-1291-4B80-8057-1DDB954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61A12"/>
                </a:solidFill>
              </a:defRPr>
            </a:pPr>
            <a:r>
              <a:rPr sz="3150" b="1" i="0">
                <a:solidFill>
                  <a:srgbClr val="061A12"/>
                </a:solidFill>
              </a:rPr>
              <a:t>The risk lives between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8B615-A2BF-4898-A064-70F28BE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685E"/>
                </a:solidFill>
              </a:defRPr>
            </a:pPr>
            <a:r>
              <a:rPr sz="1650" b="0" i="0">
                <a:solidFill>
                  <a:srgbClr val="55685E"/>
                </a:solidFill>
              </a:rPr>
              <a:t>Accounting records the transaction. Email carries the notice. A shared drive holds the file.</a:t>
            </a:r>
          </a:p>
          <a:p xmlns:a="http://schemas.openxmlformats.org/drawingml/2006/main">
            <a:pPr algn="l">
              <a:defRPr sz="1650" b="0" i="0">
                <a:solidFill>
                  <a:srgbClr val="55685E"/>
                </a:solidFill>
              </a:defRPr>
            </a:pPr>
            <a:r>
              <a:rPr sz="1650" b="0" i="0">
                <a:solidFill>
                  <a:srgbClr val="55685E"/>
                </a:solidFill>
              </a:rPr>
              <a:t>But none of them guarantees that the full board sees the risk—or that it escalates.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F5EE3-9D7A-427C-8F72-A1E3509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95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D97ED-B721-447B-B84F-C6058C8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7AF6B-E8BE-4C1B-BA43-02E6118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B82D5-ECA4-4888-B0B7-6A75A63E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E0C6-06B9-4BBB-83DC-9BFD4BD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22F3A-DCCA-4D72-B2CB-2752BD95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Notice arrives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A82BB-9C3A-463D-815A-764CFDA3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A filing, bill, renewal, grant report, or board decision lands.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EEF6B-6C96-4050-9022-64AC453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2AF4D-D62D-40AB-BAAF-B8FA0EEA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DBC1F-5F8A-464D-8A0C-4289BC15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One person knows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816AE-2E19-40FA-BEBE-97AC42C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910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The obligation stays inside an inbox, folder, or private conversation.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3353-1860-431D-A6CB-03EB16E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750B-ABB9-4AC4-A6C1-AAC9856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9BFDF-0380-48CC-B676-55051574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The moment slips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CAF67-08C7-4EE1-8D5D-B376F2B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No shared owner, evidence standard, reviewer, or escalation clock.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03F34-C296-4BBE-ADCF-FD1F9C15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F913E-9FA9-42C2-BE06-4A8C733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AA627-EE92-4DE1-9613-F879D6B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Trust breaks 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C4AE6-F45B-4201-BF81-C7BC3F3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434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Leaders and members learn after cost, conflict, or exposure grows.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F7BF3-FD17-4982-B6B9-29C9C1E2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C757C-69F8-4586-8332-37CDF1A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3E9"/>
                </a:solidFill>
              </a:defRPr>
            </a:pPr>
            <a:r>
              <a:rPr sz="1425" b="1" i="0">
                <a:solidFill>
                  <a:srgbClr val="F1F3E9"/>
                </a:solidFill>
              </a:rPr>
              <a:t>The issue is not a lack of care. It is a lack of shared visibility, evidence, and escalation.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75962-F97E-4338-B663-ED2495B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85E"/>
                </a:solidFill>
              </a:defRPr>
            </a:pPr>
            <a:r>
              <a:rPr sz="750" b="1" i="0">
                <a:solidFill>
                  <a:srgbClr val="55685E"/>
                </a:solidFill>
              </a:rPr>
              <a:t>TIECAMEL · MOSQUE DESIGN-PARTNER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1A70D-F77A-498A-8B60-61B71E31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33B2C"/>
                </a:solidFill>
              </a:defRPr>
            </a:pPr>
            <a:r>
              <a:rPr sz="825" b="1" i="0">
                <a:solidFill>
                  <a:srgbClr val="133B2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8239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C22EB-EFE2-4417-8C35-FDB8794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D8A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B102E-88EC-4057-A3DE-2E673CB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D8AE"/>
                </a:solidFill>
              </a:defRPr>
            </a:pPr>
            <a:r>
              <a:rPr sz="975" b="1" i="0">
                <a:solidFill>
                  <a:srgbClr val="8BD8AE"/>
                </a:solidFill>
              </a:rPr>
              <a:t>THE TIECAMEL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8CA96-BBFE-43E3-9626-4D95D3C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3E9"/>
                </a:solidFill>
              </a:defRPr>
            </a:pPr>
            <a:r>
              <a:rPr sz="3150" b="1" i="0">
                <a:solidFill>
                  <a:srgbClr val="F1F3E9"/>
                </a:solidFill>
              </a:rPr>
              <a:t>One shared system: observe, escalate,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D8A41-CF10-4B7D-B8D2-386636E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4D4AF-B2FC-41F9-8FDD-4AA1292F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1F3E9"/>
                </a:solidFill>
              </a:defRPr>
            </a:pPr>
            <a:r>
              <a:rPr sz="2250" b="1" i="0">
                <a:solidFill>
                  <a:srgbClr val="F1F3E9"/>
                </a:solidFill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A1F5-F7EF-40EC-981E-B3F714D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9AD"/>
                </a:solidFill>
              </a:defRPr>
            </a:pPr>
            <a:r>
              <a:rPr sz="1275" b="0" i="0">
                <a:solidFill>
                  <a:srgbClr val="A6B9AD"/>
                </a:solidFill>
              </a:rPr>
              <a:t>Bring property, filings, grants, insurance, loans, licenses, legal matters, and financial reporting into one source-labeled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C137A-C338-4D9D-A576-C08EB00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EB0BF-44F4-450F-B4C5-516BFA5A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0922E-D8F1-4F5C-850D-945A852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1F3E9"/>
                </a:solidFill>
              </a:defRPr>
            </a:pPr>
            <a:r>
              <a:rPr sz="2250" b="1" i="0">
                <a:solidFill>
                  <a:srgbClr val="F1F3E9"/>
                </a:solidFill>
              </a:rPr>
              <a:t>Escalate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B4378-6080-463F-B257-9F81DE0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9AD"/>
                </a:solidFill>
              </a:defRPr>
            </a:pPr>
            <a:r>
              <a:rPr sz="1275" b="0" i="0">
                <a:solidFill>
                  <a:srgbClr val="A6B9AD"/>
                </a:solidFill>
              </a:rPr>
              <a:t>Assign an owner, backup, reviewer, evidence requirement, and an escalation path that cannot end in one silent inbox.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A8229-F769-4390-BBEE-BA50E2DD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72DFD-44BD-4925-9873-64FF832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EE7AC-3497-4244-A207-AEEF8EE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1F3E9"/>
                </a:solidFill>
              </a:defRPr>
            </a:pPr>
            <a:r>
              <a:rPr sz="2250" b="1" i="0">
                <a:solidFill>
                  <a:srgbClr val="F1F3E9"/>
                </a:solidFill>
              </a:rPr>
              <a:t>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63A4A-7DB8-4F0E-B696-15F36FA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9AD"/>
                </a:solidFill>
              </a:defRPr>
            </a:pPr>
            <a:r>
              <a:rPr sz="1275" b="0" i="0">
                <a:solidFill>
                  <a:srgbClr val="A6B9AD"/>
                </a:solidFill>
              </a:rPr>
              <a:t>Publish privacy-respecting reports with source labels, reviewer attestations, append-only history, and verifiable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5CE3-7260-4516-96E4-5F4727E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224790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ae176f53a458f"/>
          <a:srcRect xmlns:a="http://schemas.openxmlformats.org/drawingml/2006/main" l="0" t="32545" r="0" b="32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771900"/>
            <a:ext cx="108585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18700-2E04-4089-B05A-DE050D7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B9AD"/>
                </a:solidFill>
              </a:defRPr>
            </a:pPr>
            <a:r>
              <a:rPr sz="750" b="1" i="0">
                <a:solidFill>
                  <a:srgbClr val="A6B9AD"/>
                </a:solidFill>
              </a:rPr>
              <a:t>TIECAMEL · MOSQUE DESIGN-PARTNER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3AC24-9035-4D8E-8A9B-D682B43C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8C47F"/>
                </a:solidFill>
              </a:defRPr>
            </a:pPr>
            <a:r>
              <a:rPr sz="825" b="1" i="0">
                <a:solidFill>
                  <a:srgbClr val="D8C47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637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074CD-B48B-416C-8C7E-6631200C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20C8-85F7-41FB-9DA0-31D51CFD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3B2C"/>
                </a:solidFill>
              </a:defRPr>
            </a:pPr>
            <a:r>
              <a:rPr sz="975" b="1" i="0">
                <a:solidFill>
                  <a:srgbClr val="133B2C"/>
                </a:solidFill>
              </a:rPr>
              <a:t>BOARD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F3111-0B89-4A3C-B50D-3FDA1BAF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61A12"/>
                </a:solidFill>
              </a:defRPr>
            </a:pPr>
            <a:r>
              <a:rPr sz="3150" b="1" i="0">
                <a:solidFill>
                  <a:srgbClr val="061A12"/>
                </a:solidFill>
              </a:rPr>
              <a:t>Your board sees the whole picture—</a:t>
            </a:r>
          </a:p>
          <a:p xmlns:a="http://schemas.openxmlformats.org/drawingml/2006/main">
            <a:pPr algn="l">
              <a:defRPr sz="3150" b="1" i="0">
                <a:solidFill>
                  <a:srgbClr val="061A12"/>
                </a:solidFill>
              </a:defRPr>
            </a:pPr>
            <a:r>
              <a:rPr sz="3150" b="1" i="0">
                <a:solidFill>
                  <a:srgbClr val="061A12"/>
                </a:solidFill>
              </a:rPr>
              <a:t>before the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5CBF8-DF46-4AC0-A73B-15AA6E7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2783F-BB1C-4412-B4CB-57232FE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Governed work areas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3FF9-D99B-4350-A986-9FBA6FB3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Governance, compliance, funding, and transparency each carry their own rules and audience.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7E917-31DD-4C59-9498-1567C9D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11458-A98C-4ACA-BEC7-99C0455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What needs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C6547-B342-4135-82DD-E3B5FF42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Open issues, review queues, unresolved actions, and close-to-breach items are visible in one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39637-EF8A-4464-9D4C-E3D3F8E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4A650"/>
                </a:solidFill>
              </a:defRPr>
            </a:pPr>
            <a:r>
              <a:rPr sz="975" b="1" i="0">
                <a:solidFill>
                  <a:srgbClr val="C4A65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81289-5B5C-4B8D-86B3-38C31F18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A12"/>
                </a:solidFill>
              </a:defRPr>
            </a:pPr>
            <a:r>
              <a:rPr sz="1725" b="1" i="0">
                <a:solidFill>
                  <a:srgbClr val="061A12"/>
                </a:solidFill>
              </a:rPr>
              <a:t>Durable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17315-CD26-4531-9243-6CBB2D7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685E"/>
                </a:solidFill>
              </a:defRPr>
            </a:pPr>
            <a:r>
              <a:rPr sz="1275" b="0" i="0">
                <a:solidFill>
                  <a:srgbClr val="55685E"/>
                </a:solidFill>
              </a:rPr>
              <a:t>Accepted records cannot be silently overwritten; corrections arrive as reviewed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2B141-5E01-4D0A-B005-78588DE6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90600"/>
            <a:ext cx="6115050" cy="4781550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4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3e08f4fad4ee2"/>
          <a:stretch xmlns:a="http://schemas.openxmlformats.org/drawingml/2006/main"/>
        </p:blipFill>
        <p:spPr>
          <a:xfrm xmlns:a="http://schemas.openxmlformats.org/drawingml/2006/main">
            <a:off x="5543550" y="1703349"/>
            <a:ext cx="5962650" cy="3356053"/>
          </a:xfrm>
          <a:prstGeom xmlns:a="http://schemas.openxmlformats.org/drawingml/2006/main" prst="roundRect">
            <a:avLst>
              <a:gd name="adj" fmla="val 308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886CB-6E41-4FA1-A29F-A4FFB6A7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85E"/>
                </a:solidFill>
              </a:defRPr>
            </a:pPr>
            <a:r>
              <a:rPr sz="750" b="1" i="0">
                <a:solidFill>
                  <a:srgbClr val="55685E"/>
                </a:solidFill>
              </a:rPr>
              <a:t>TIECAMEL · MOSQUE DESIGN-PARTNER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D69C9-5ED7-4141-9FE9-E5C067E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33B2C"/>
                </a:solidFill>
              </a:defRPr>
            </a:pPr>
            <a:r>
              <a:rPr sz="825" b="1" i="0">
                <a:solidFill>
                  <a:srgbClr val="133B2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6636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C7D85-49E7-4F44-B183-42DE5CA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D8A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D7F1-A76A-41F1-AAB3-BFEE751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D8AE"/>
                </a:solidFill>
              </a:defRPr>
            </a:pPr>
            <a:r>
              <a:rPr sz="975" b="1" i="0">
                <a:solidFill>
                  <a:srgbClr val="8BD8AE"/>
                </a:solidFill>
              </a:rPr>
              <a:t>CONTROLLED FOLLOW-THROUGH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51517-017C-4B29-A4EA-BE7DC3F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1F3E9"/>
                </a:solidFill>
              </a:defRPr>
            </a:pPr>
            <a:r>
              <a:rPr sz="3300" b="1" i="0">
                <a:solidFill>
                  <a:srgbClr val="F1F3E9"/>
                </a:solidFill>
              </a:rPr>
              <a:t>Every obligation has</a:t>
            </a:r>
          </a:p>
          <a:p xmlns:a="http://schemas.openxmlformats.org/drawingml/2006/main">
            <a:pPr algn="l">
              <a:defRPr sz="3300" b="1" i="0">
                <a:solidFill>
                  <a:srgbClr val="F1F3E9"/>
                </a:solidFill>
              </a:defRPr>
            </a:pPr>
            <a:r>
              <a:rPr sz="3300" b="1" i="0">
                <a:solidFill>
                  <a:srgbClr val="F1F3E9"/>
                </a:solidFill>
              </a:rPr>
              <a:t>a path to resolution.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02BFB-919C-4879-9B98-9E156B1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0" cy="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6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6CA6-E83D-4A26-92E8-635F5A4E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8C92-A299-4DE0-9DEA-F58DDB9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3E4AD-C347-492C-9BE2-AC2F37F0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2B1B4-7BDD-4013-AB54-D1B3DAC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Someone is responsible.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B244F-594D-45EB-8BC4-7C8A93B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6B0A5-61DD-4275-8063-A3B65D3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C34E3-76D6-4CAB-9EDA-BF12CF5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Backup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93EFB-1ADC-41A4-AE51-6EC539F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Silence cannot stop the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E13C2-DF15-42E5-9B60-4469C280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8FD66-52FC-4F77-A3AC-D3AF8539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B9FE5-2009-44E8-B0CA-77587E3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16E2C-A74A-421F-8269-2CDC605C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195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Completion requires proof.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E9894-580A-4DBB-A95F-5ADE4F3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E92C1-A85A-46A3-9D04-BDB50897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8C47F"/>
                </a:solidFill>
              </a:defRPr>
            </a:pPr>
            <a:r>
              <a:rPr sz="975" b="1" i="0">
                <a:solidFill>
                  <a:srgbClr val="D8C47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000C6-F3F7-4FC4-90ED-CDA4586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Reviewer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DB8D0-9A5C-4806-93B6-1E8E8726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High-risk closure gets a second set of eyes.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13685-DF0A-4A40-B126-F5D0E62D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650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EB17E-D822-4446-8E48-F143AA09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1A12"/>
                </a:solidFill>
              </a:defRPr>
            </a:pPr>
            <a:r>
              <a:rPr sz="975" b="1" i="0">
                <a:solidFill>
                  <a:srgbClr val="061A12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01541-B0BC-4982-8210-E09680E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Escalation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20625-A11E-487B-AB90-0935566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Unresolved risk reaches the full board.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E91D0-30DD-4B9E-A7CA-3EF4DBB2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76300"/>
            <a:ext cx="6191250" cy="430530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f20a9d84b483a"/>
          <a:stretch xmlns:a="http://schemas.openxmlformats.org/drawingml/2006/main"/>
        </p:blipFill>
        <p:spPr>
          <a:xfrm xmlns:a="http://schemas.openxmlformats.org/drawingml/2006/main">
            <a:off x="5467350" y="1330523"/>
            <a:ext cx="6038850" cy="3396853"/>
          </a:xfrm>
          <a:prstGeom xmlns:a="http://schemas.openxmlformats.org/drawingml/2006/main" prst="roundRect">
            <a:avLst>
              <a:gd name="adj" fmla="val 3440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6B77B-10C1-4E79-9282-05C942B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29250"/>
            <a:ext cx="619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B22EB-F512-4E64-9C66-39A398F5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72125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3E9"/>
                </a:solidFill>
              </a:defRPr>
            </a:pPr>
            <a:r>
              <a:rPr sz="1350" b="1" i="0">
                <a:solidFill>
                  <a:srgbClr val="F1F3E9"/>
                </a:solidFill>
              </a:rPr>
              <a:t>A critical item cannot be quietly closed by the same person who owns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D0B2C-C15C-4778-A611-182E985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B9AD"/>
                </a:solidFill>
              </a:defRPr>
            </a:pPr>
            <a:r>
              <a:rPr sz="750" b="1" i="0">
                <a:solidFill>
                  <a:srgbClr val="A6B9AD"/>
                </a:solidFill>
              </a:rPr>
              <a:t>TIECAMEL · MOSQUE DESIGN-PARTNER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4E43A-7D20-4052-BA93-24BB4E6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8C47F"/>
                </a:solidFill>
              </a:defRPr>
            </a:pPr>
            <a:r>
              <a:rPr sz="825" b="1" i="0">
                <a:solidFill>
                  <a:srgbClr val="D8C4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291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3D3EE-3B78-43D1-9D50-8A656B3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DBD88-522C-4F59-B82D-6CCF302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3B2C"/>
                </a:solidFill>
              </a:defRPr>
            </a:pPr>
            <a:r>
              <a:rPr sz="975" b="1" i="0">
                <a:solidFill>
                  <a:srgbClr val="133B2C"/>
                </a:solidFill>
              </a:rPr>
              <a:t>TRUST WITH PRIVACY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80A43-DB58-466C-9929-33362D2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61A12"/>
                </a:solidFill>
              </a:defRPr>
            </a:pPr>
            <a:r>
              <a:rPr sz="3150" b="1" i="0">
                <a:solidFill>
                  <a:srgbClr val="061A12"/>
                </a:solidFill>
              </a:rPr>
              <a:t>Transparency without oversharing.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A2413-6394-4806-84D8-C9ACC11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685E"/>
                </a:solidFill>
              </a:defRPr>
            </a:pPr>
            <a:r>
              <a:rPr sz="1650" b="0" i="0">
                <a:solidFill>
                  <a:srgbClr val="55685E"/>
                </a:solidFill>
              </a:rPr>
              <a:t>The same truth—presented at the right level for each audience.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B5DAD-8467-4DD8-9302-4BF4A5AF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0287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E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F6391-0D61-4A0F-8917-2A5C7C6D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33B2C"/>
                </a:solidFill>
              </a:defRPr>
            </a:pPr>
            <a:r>
              <a:rPr sz="825" b="1" i="0">
                <a:solidFill>
                  <a:srgbClr val="133B2C"/>
                </a:solidFill>
              </a:rPr>
              <a:t>PUBLIC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D12E2-1ED0-473D-A3C7-2C481827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796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33B2C"/>
                </a:solidFill>
              </a:defRPr>
            </a:pPr>
            <a:r>
              <a:rPr sz="1200" b="1" i="0">
                <a:solidFill>
                  <a:srgbClr val="133B2C"/>
                </a:solidFill>
              </a:rPr>
              <a:t>Approved reports, leadership, material-risk summaries, freshness and publication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FFD47-9030-4285-AB07-11DDC08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95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E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0D256-0BD1-45BF-AD49-B2019F0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A12"/>
                </a:solidFill>
              </a:defRPr>
            </a:pPr>
            <a:r>
              <a:rPr sz="825" b="1" i="0">
                <a:solidFill>
                  <a:srgbClr val="061A12"/>
                </a:solidFill>
              </a:rPr>
              <a:t>VERIFIED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432C9-2C0B-4087-B9ED-C0BABCAC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A12"/>
                </a:solidFill>
              </a:defRPr>
            </a:pPr>
            <a:r>
              <a:rPr sz="1200" b="1" i="0">
                <a:solidFill>
                  <a:srgbClr val="061A12"/>
                </a:solidFill>
              </a:rPr>
              <a:t>Financial and governance summaries, board actions, structured questions and responses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AB9DC-B4FE-4ED7-8990-675F0F11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FB6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7FD7F-3B29-4DBA-8C69-ADB320C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A12"/>
                </a:solidFill>
              </a:defRPr>
            </a:pPr>
            <a:r>
              <a:rPr sz="825" b="1" i="0">
                <a:solidFill>
                  <a:srgbClr val="061A12"/>
                </a:solidFill>
              </a:rPr>
              <a:t>FULL 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9259E-53F2-4F27-B1F3-FCA31E4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1A12"/>
                </a:solidFill>
              </a:defRPr>
            </a:pPr>
            <a:r>
              <a:rPr sz="1200" b="1" i="0">
                <a:solidFill>
                  <a:srgbClr val="061A12"/>
                </a:solidFill>
              </a:rPr>
              <a:t>Obligations, evidence, decisions, dissent, unresolved actions and scoped financial 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9DFB1-62F7-4152-9720-EB62190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628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71225-3CE9-417D-8095-1646F16A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1F3E9"/>
                </a:solidFill>
              </a:defRPr>
            </a:pPr>
            <a:r>
              <a:rPr sz="825" b="1" i="0">
                <a:solidFill>
                  <a:srgbClr val="F1F3E9"/>
                </a:solidFill>
              </a:rPr>
              <a:t>RESTRICTED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4FFF0-5604-4795-B35A-27EF15E1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053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1F3E9"/>
                </a:solidFill>
              </a:defRPr>
            </a:pPr>
            <a:r>
              <a:rPr sz="1200" b="1" i="0">
                <a:solidFill>
                  <a:srgbClr val="F1F3E9"/>
                </a:solidFill>
              </a:rPr>
              <a:t>Donor identities, employee data, credentials and privileged legal strategy stay protected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39324-651D-47F4-A3E2-FC275F6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6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E48DE-ABDD-4D50-B056-5DC7234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9120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61A12"/>
                </a:solidFill>
              </a:defRPr>
            </a:pPr>
            <a:r>
              <a:rPr sz="1425" b="1" i="0">
                <a:solidFill>
                  <a:srgbClr val="061A12"/>
                </a:solidFill>
              </a:rPr>
              <a:t>Meaningful transparency does not require publishing transactions, donor identities, or privileged strategy.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CFBDE-3BAA-4B79-8B4E-8F6918C4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85E"/>
                </a:solidFill>
              </a:defRPr>
            </a:pPr>
            <a:r>
              <a:rPr sz="750" b="1" i="0">
                <a:solidFill>
                  <a:srgbClr val="55685E"/>
                </a:solidFill>
              </a:rPr>
              <a:t>TIECAMEL · MOSQUE DESIGN-PARTNER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C74D5-434E-4799-BE1D-DC4676DB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33B2C"/>
                </a:solidFill>
              </a:defRPr>
            </a:pPr>
            <a:r>
              <a:rPr sz="825" b="1" i="0">
                <a:solidFill>
                  <a:srgbClr val="133B2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7973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CAC48-846E-4E75-9A92-0468A4E9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D8A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1F652-175F-4D26-90B1-5E72C786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D8AE"/>
                </a:solidFill>
              </a:defRPr>
            </a:pPr>
            <a:r>
              <a:rPr sz="975" b="1" i="0">
                <a:solidFill>
                  <a:srgbClr val="8BD8AE"/>
                </a:solidFill>
              </a:rPr>
              <a:t>PROVENANCE ON EVERY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5BD51-2158-4558-A932-B46FB802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1F3E9"/>
                </a:solidFill>
              </a:defRPr>
            </a:pPr>
            <a:r>
              <a:rPr sz="3225" b="1" i="0">
                <a:solidFill>
                  <a:srgbClr val="F1F3E9"/>
                </a:solidFill>
              </a:rPr>
              <a:t>Trust is stronger</a:t>
            </a:r>
          </a:p>
          <a:p xmlns:a="http://schemas.openxmlformats.org/drawingml/2006/main">
            <a:pPr algn="l">
              <a:defRPr sz="3225" b="1" i="0">
                <a:solidFill>
                  <a:srgbClr val="F1F3E9"/>
                </a:solidFill>
              </a:defRPr>
            </a:pPr>
            <a:r>
              <a:rPr sz="3225" b="1" i="0">
                <a:solidFill>
                  <a:srgbClr val="F1F3E9"/>
                </a:solidFill>
              </a:rPr>
              <a:t>when every claim</a:t>
            </a:r>
          </a:p>
          <a:p xmlns:a="http://schemas.openxmlformats.org/drawingml/2006/main">
            <a:pPr algn="l">
              <a:defRPr sz="3225" b="1" i="0">
                <a:solidFill>
                  <a:srgbClr val="F1F3E9"/>
                </a:solidFill>
              </a:defRPr>
            </a:pPr>
            <a:r>
              <a:rPr sz="3225" b="1" i="0">
                <a:solidFill>
                  <a:srgbClr val="F1F3E9"/>
                </a:solidFill>
              </a:rPr>
              <a:t>carries its source.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6B33-627F-4A9C-9B40-E172A8C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0588-7EEA-4013-9723-09386EB1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9BBE6-77FA-4CBC-A45F-155D663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Confirmed by an official, connected, or independently reviewed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3CDC2-6C6D-4EEF-9F5A-5F61354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FA078-6EC9-491C-A171-AB93CEB8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Organization reported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36178-1640-4B3D-970A-9920FD61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Submitted by the mosque with its source and reporting date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C1B29-331B-4560-8BFC-178A4751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F4AD9-AE72-40D8-8086-E2B1ECB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FD2E8-9CDC-40F2-94CC-13F698F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Missing, disconnected, stale, or not available for verification.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56115-668C-4CA5-815C-96766E6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890C7-78DB-44BA-B200-536A0667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F3E9"/>
                </a:solidFill>
              </a:defRPr>
            </a:pPr>
            <a:r>
              <a:rPr sz="1500" b="1" i="0">
                <a:solidFill>
                  <a:srgbClr val="F1F3E9"/>
                </a:solidFill>
              </a:rPr>
              <a:t>Disputed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757D0-6072-420D-9486-902EB1C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The evidence and each response remain preserved.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4B284-9D69-48F7-929C-4118035B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33450"/>
            <a:ext cx="5676900" cy="37719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9ff5f07fb4893"/>
          <a:stretch xmlns:a="http://schemas.openxmlformats.org/drawingml/2006/main"/>
        </p:blipFill>
        <p:spPr>
          <a:xfrm xmlns:a="http://schemas.openxmlformats.org/drawingml/2006/main">
            <a:off x="5981700" y="1265634"/>
            <a:ext cx="5524500" cy="3107531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CECA2-15B8-4D58-8010-B28CCDCD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56769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133B2C"/>
          </a:solidFill>
          <a:ln xmlns:a="http://schemas.openxmlformats.org/drawingml/2006/main" w="9525">
            <a:solidFill>
              <a:srgbClr val="C4A6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2638E-A993-46DC-BD8F-EDF7CD12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1F3E9"/>
                </a:solidFill>
              </a:defRPr>
            </a:pPr>
            <a:r>
              <a:rPr sz="1650" b="1" i="0">
                <a:solidFill>
                  <a:srgbClr val="F1F3E9"/>
                </a:solidFill>
              </a:rPr>
              <a:t>Corrections append. Originals remain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B5D33-18BD-43FE-8CD0-DB595CFB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6B9AD"/>
                </a:solidFill>
              </a:defRPr>
            </a:pPr>
            <a:r>
              <a:rPr sz="1125" b="0" i="0">
                <a:solidFill>
                  <a:srgbClr val="A6B9AD"/>
                </a:solidFill>
              </a:rPr>
              <a:t>Published records can change without history disappearing.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D9A14-DD07-484A-B85E-EE4BBCF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B9AD"/>
                </a:solidFill>
              </a:defRPr>
            </a:pPr>
            <a:r>
              <a:rPr sz="750" b="1" i="0">
                <a:solidFill>
                  <a:srgbClr val="A6B9AD"/>
                </a:solidFill>
              </a:rPr>
              <a:t>TIECAMEL · MOSQUE DESIGN-PARTNER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DBFFC-7B6A-4CE2-968E-902E48FB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8C47F"/>
                </a:solidFill>
              </a:defRPr>
            </a:pPr>
            <a:r>
              <a:rPr sz="825" b="1" i="0">
                <a:solidFill>
                  <a:srgbClr val="D8C47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2043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7FD66-4C0E-4830-9971-4FCD0B9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3B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E66C5-81B0-4F89-917B-DE92C986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3B2C"/>
                </a:solidFill>
              </a:defRPr>
            </a:pPr>
            <a:r>
              <a:rPr sz="975" b="1" i="0">
                <a:solidFill>
                  <a:srgbClr val="133B2C"/>
                </a:solidFill>
              </a:rPr>
              <a:t>PROPOSED DESIGN-PARTNER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5E443-9472-4A85-8329-9C66D1F8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61A12"/>
                </a:solidFill>
              </a:defRPr>
            </a:pPr>
            <a:r>
              <a:rPr sz="3150" b="1" i="0">
                <a:solidFill>
                  <a:srgbClr val="061A12"/>
                </a:solidFill>
              </a:rPr>
              <a:t>A focused 90 days to prove the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82C98-CA51-4258-B911-F93CF3B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685E"/>
                </a:solidFill>
              </a:defRPr>
            </a:pPr>
            <a:r>
              <a:rPr sz="1650" b="0" i="0">
                <a:solidFill>
                  <a:srgbClr val="55685E"/>
                </a:solidFill>
              </a:rPr>
              <a:t>Start bounded. Learn with real obligations. Publish one credible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16AC1-401C-4CEA-9A16-105411E8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B931A-11D9-4BD0-86BA-21AA553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3EDAD-FFE5-486B-980B-A418B2E6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A6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E6AEF-B477-4EEE-8176-23D9AD1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D8BDB-DB5D-4B97-AE9F-BA17924A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3E9"/>
                </a:solidFill>
              </a:defRPr>
            </a:pPr>
            <a:r>
              <a:rPr sz="1350" b="1" i="0">
                <a:solidFill>
                  <a:srgbClr val="F1F3E9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281EC-C223-442A-8020-2DC493A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4A650"/>
                </a:solidFill>
              </a:defRPr>
            </a:pPr>
            <a:r>
              <a:rPr sz="825" b="1" i="0">
                <a:solidFill>
                  <a:srgbClr val="C4A650"/>
                </a:solidFill>
              </a:rPr>
              <a:t>DAYS 1–14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3DF69-F9FF-4A81-948C-9F7D6AEC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1A12"/>
                </a:solidFill>
              </a:defRPr>
            </a:pPr>
            <a:r>
              <a:rPr sz="1875" b="1" i="0">
                <a:solidFill>
                  <a:srgbClr val="061A12"/>
                </a:solidFill>
              </a:rPr>
              <a:t>Align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BF005-0554-4D3D-8600-1E8F896F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5685E"/>
                </a:solidFill>
              </a:defRPr>
            </a:pPr>
            <a:r>
              <a:rPr sz="1200" b="0" i="0">
                <a:solidFill>
                  <a:srgbClr val="55685E"/>
                </a:solidFill>
              </a:rPr>
              <a:t>Scope, governance, data boundaries, and a draft Transparency Covenant.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00F7E-D3E9-49BA-A069-042A35B8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2D52D-0CC8-4F6E-9E4D-62D1FE8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3E9"/>
                </a:solidFill>
              </a:defRPr>
            </a:pPr>
            <a:r>
              <a:rPr sz="1350" b="1" i="0">
                <a:solidFill>
                  <a:srgbClr val="F1F3E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E9F73-BAAA-468F-AC90-712E4E5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4A650"/>
                </a:solidFill>
              </a:defRPr>
            </a:pPr>
            <a:r>
              <a:rPr sz="825" b="1" i="0">
                <a:solidFill>
                  <a:srgbClr val="C4A650"/>
                </a:solidFill>
              </a:rPr>
              <a:t>DAYS 15–45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008BD-4F69-4F2D-BFB1-BF2C8E59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1A12"/>
                </a:solidFill>
              </a:defRPr>
            </a:pPr>
            <a:r>
              <a:rPr sz="1875" b="1" i="0">
                <a:solidFill>
                  <a:srgbClr val="061A12"/>
                </a:solidFill>
              </a:rPr>
              <a:t>Configure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E8A17-5E51-40E8-83AB-3E092BE8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5685E"/>
                </a:solidFill>
              </a:defRPr>
            </a:pPr>
            <a:r>
              <a:rPr sz="1200" b="0" i="0">
                <a:solidFill>
                  <a:srgbClr val="55685E"/>
                </a:solidFill>
              </a:rPr>
              <a:t>Import priority obligations; assign owners, backups, evidence, and escalation.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B085-ADA3-4E61-A5F8-0C12F1E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8E2C8-7E7A-4C75-B6E3-637088BF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3E9"/>
                </a:solidFill>
              </a:defRPr>
            </a:pPr>
            <a:r>
              <a:rPr sz="1350" b="1" i="0">
                <a:solidFill>
                  <a:srgbClr val="F1F3E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232F9-1B16-44FE-B335-6A5F96C3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4A650"/>
                </a:solidFill>
              </a:defRPr>
            </a:pPr>
            <a:r>
              <a:rPr sz="825" b="1" i="0">
                <a:solidFill>
                  <a:srgbClr val="C4A650"/>
                </a:solidFill>
              </a:rPr>
              <a:t>DAYS 46–75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D4EAA-C827-4A0D-ABF0-D48EBFB6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1A12"/>
                </a:solidFill>
              </a:defRPr>
            </a:pPr>
            <a:r>
              <a:rPr sz="1875" b="1" i="0">
                <a:solidFill>
                  <a:srgbClr val="061A12"/>
                </a:solidFill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AA754-4898-459E-8493-53033B14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5685E"/>
                </a:solidFill>
              </a:defRPr>
            </a:pPr>
            <a:r>
              <a:rPr sz="1200" b="0" i="0">
                <a:solidFill>
                  <a:srgbClr val="55685E"/>
                </a:solidFill>
              </a:rPr>
              <a:t>Run alerts, reviews, board decisions, and member-question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526E4-E8D7-4121-814E-C1B4BFE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E5D04-5E91-4F2C-91D4-CA4D44A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3E9"/>
                </a:solidFill>
              </a:defRPr>
            </a:pPr>
            <a:r>
              <a:rPr sz="1350" b="1" i="0">
                <a:solidFill>
                  <a:srgbClr val="F1F3E9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72382-5691-4717-9BE4-72DBEF5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4A650"/>
                </a:solidFill>
              </a:defRPr>
            </a:pPr>
            <a:r>
              <a:rPr sz="825" b="1" i="0">
                <a:solidFill>
                  <a:srgbClr val="C4A650"/>
                </a:solidFill>
              </a:rPr>
              <a:t>DAYS 76–90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3EC3F-1DB9-4C49-A209-CFBA4166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57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1A12"/>
                </a:solidFill>
              </a:defRPr>
            </a:pPr>
            <a:r>
              <a:rPr sz="1875" b="1" i="0">
                <a:solidFill>
                  <a:srgbClr val="061A12"/>
                </a:solidFill>
              </a:rPr>
              <a:t>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4C88D-7906-4DCB-8190-E0DE2457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5685E"/>
                </a:solidFill>
              </a:defRPr>
            </a:pPr>
            <a:r>
              <a:rPr sz="1200" b="0" i="0">
                <a:solidFill>
                  <a:srgbClr val="55685E"/>
                </a:solidFill>
              </a:rPr>
              <a:t>Release one approved member-facing report with verification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C6F97-8CAF-4348-AC73-F1BF0D1B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57713-DA20-44EF-8595-28E36A71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1F3E9"/>
                </a:solidFill>
              </a:defRPr>
            </a:pPr>
            <a:r>
              <a:rPr sz="1275" b="1" i="0">
                <a:solidFill>
                  <a:srgbClr val="F1F3E9"/>
                </a:solidFill>
              </a:rPr>
              <a:t>Pilot outcome: one authoritative obligation register · board-level visibility · a member report · tamper-evident publication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C0AEB2-CFFE-4081-8A01-B9DB22C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5685E"/>
                </a:solidFill>
              </a:defRPr>
            </a:pPr>
            <a:r>
              <a:rPr sz="750" b="1" i="0">
                <a:solidFill>
                  <a:srgbClr val="55685E"/>
                </a:solidFill>
              </a:rPr>
              <a:t>TIECAMEL · MOSQUE DESIGN-PARTNER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8CD83-DF32-4AA1-967E-7963724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33B2C"/>
                </a:solidFill>
              </a:defRPr>
            </a:pPr>
            <a:r>
              <a:rPr sz="825" b="1" i="0">
                <a:solidFill>
                  <a:srgbClr val="133B2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4574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f4d97d12d42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9D796-04E2-4DA8-BCAC-32B04E84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f91e156754dfd"/>
          <a:stretch xmlns:a="http://schemas.openxmlformats.org/drawingml/2006/main"/>
        </p:blipFill>
        <p:spPr>
          <a:xfrm xmlns:a="http://schemas.openxmlformats.org/drawingml/2006/main">
            <a:off x="647700" y="514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DEB6F-1D11-477D-AC73-AD5776C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3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TieCamel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26C97-32C7-446F-BF35-BD12E48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D8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09705-7557-4F96-BE80-9A1D7F29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D8AE"/>
                </a:solidFill>
              </a:defRPr>
            </a:pPr>
            <a:r>
              <a:rPr sz="975" b="1" i="0">
                <a:solidFill>
                  <a:srgbClr val="8BD8AE"/>
                </a:solidFill>
              </a:rPr>
              <a:t>BECOME A DESIGN 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082FE-C32F-470D-A438-08D8DFC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1F3E9"/>
                </a:solidFill>
              </a:defRPr>
            </a:pPr>
            <a:r>
              <a:rPr sz="3750" b="1" i="0">
                <a:solidFill>
                  <a:srgbClr val="F1F3E9"/>
                </a:solidFill>
              </a:rPr>
              <a:t>Start with the obligations</a:t>
            </a:r>
          </a:p>
          <a:p xmlns:a="http://schemas.openxmlformats.org/drawingml/2006/main">
            <a:pPr algn="l">
              <a:defRPr sz="3750" b="1" i="0">
                <a:solidFill>
                  <a:srgbClr val="F1F3E9"/>
                </a:solidFill>
              </a:defRPr>
            </a:pPr>
            <a:r>
              <a:rPr sz="3750" b="1" i="0">
                <a:solidFill>
                  <a:srgbClr val="F1F3E9"/>
                </a:solidFill>
              </a:rPr>
              <a:t>that keep leaders up at night.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BB0DB-0254-42C7-AC37-E9D18E73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B9AD"/>
                </a:solidFill>
              </a:defRPr>
            </a:pPr>
            <a:r>
              <a:rPr sz="1425" b="0" i="0">
                <a:solidFill>
                  <a:srgbClr val="A6B9AD"/>
                </a:solidFill>
              </a:rPr>
              <a:t>Property &amp; exemptions  ·  Insurance &amp; safety</a:t>
            </a:r>
          </a:p>
          <a:p xmlns:a="http://schemas.openxmlformats.org/drawingml/2006/main">
            <a:pPr algn="l">
              <a:defRPr sz="1425" b="0" i="0">
                <a:solidFill>
                  <a:srgbClr val="A6B9AD"/>
                </a:solidFill>
              </a:defRPr>
            </a:pPr>
            <a:r>
              <a:rPr sz="1425" b="0" i="0">
                <a:solidFill>
                  <a:srgbClr val="A6B9AD"/>
                </a:solidFill>
              </a:rPr>
              <a:t>Filings &amp; grants  ·  Board decisions  ·  Member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D9581-1AE1-40D4-A7AC-C40AEBA8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C4A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31ADC-CE60-4A85-9B92-D6D3E724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1A12"/>
                </a:solidFill>
              </a:defRPr>
            </a:pPr>
            <a:r>
              <a:rPr sz="1800" b="1" i="0">
                <a:solidFill>
                  <a:srgbClr val="061A12"/>
                </a:solidFill>
              </a:rPr>
              <a:t>hello@tiecamel.com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29154-1271-40CF-980D-F910236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C47F"/>
                </a:solidFill>
              </a:defRPr>
            </a:pPr>
            <a:r>
              <a:rPr sz="1275" b="1" i="0">
                <a:solidFill>
                  <a:srgbClr val="D8C47F"/>
                </a:solidFill>
              </a:rPr>
              <a:t>A bounded pilot. Real obligations. Trust made visible.</a:t>
            </a:r>
          </a:p>
        </p:txBody>
      </p:sp>
    </p:spTree>
    <p:extLst>
      <p:ext uri="{BB962C8B-B14F-4D97-AF65-F5344CB8AC3E}">
        <p14:creationId xmlns:p14="http://schemas.microsoft.com/office/powerpoint/2010/main" val="2083610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2026-08-03T02:32:20.5550000Z</dcterms:created>
  <dcterms:modified xsi:type="dcterms:W3CDTF">2026-08-03T02:32:20.5550000Z</dcterms:modified>
</coreProperties>
</file>